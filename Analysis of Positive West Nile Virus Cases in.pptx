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69" r:id="rId5"/>
    <p:sldId id="259" r:id="rId6"/>
    <p:sldId id="266" r:id="rId7"/>
    <p:sldId id="261" r:id="rId8"/>
    <p:sldId id="265" r:id="rId9"/>
    <p:sldId id="262" r:id="rId10"/>
    <p:sldId id="260" r:id="rId11"/>
    <p:sldId id="263" r:id="rId12"/>
    <p:sldId id="264" r:id="rId13"/>
    <p:sldId id="267" r:id="rId14"/>
    <p:sldId id="268" r:id="rId15"/>
    <p:sldId id="270" r:id="rId16"/>
    <p:sldId id="271" r:id="rId17"/>
    <p:sldId id="273" r:id="rId18"/>
    <p:sldId id="274" r:id="rId19"/>
    <p:sldId id="272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592" y="7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656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3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60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4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406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5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5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7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34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9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8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11/20/2024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569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world/healthdata/ca-west-nile-virus-cases" TargetMode="External"/><Relationship Id="rId2" Type="http://schemas.openxmlformats.org/officeDocument/2006/relationships/hyperlink" Target="https://www.cdc.gov/west-nile-virus/data-maps/historic-data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dph.ca.gov/" TargetMode="External"/><Relationship Id="rId4" Type="http://schemas.openxmlformats.org/officeDocument/2006/relationships/hyperlink" Target="https://westnile.ca.gov/fa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660EF-3D2D-2318-F7EF-EF7F8CED8B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769"/>
          <a:stretch/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98FA35-B55D-44B7-9A7D-57C57A4A6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1524000"/>
            <a:ext cx="9144000" cy="38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707E1-AC7E-649D-691F-740868078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320213"/>
            <a:ext cx="6095999" cy="1317493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400"/>
              <a:t>Analysis of Positive West Nile Virus Cases in California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A2097-CB06-B479-E60E-7C545F4BF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2654" y="4249360"/>
            <a:ext cx="6041346" cy="688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Sebastian Gutierrez-Olvera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2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798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DAD064D-86F0-42ED-B520-996898579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71E00-9CEB-D734-034B-1683C370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1"/>
            <a:ext cx="4229100" cy="1141004"/>
          </a:xfrm>
        </p:spPr>
        <p:txBody>
          <a:bodyPr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FB912C7-4288-8B38-D94E-FA0DB4CE0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286000"/>
            <a:ext cx="4028209" cy="3810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West Nile is most often spread through mosquito bites</a:t>
            </a:r>
          </a:p>
          <a:p>
            <a:pPr marL="0" indent="0">
              <a:buNone/>
            </a:pPr>
            <a:r>
              <a:rPr lang="en-US" dirty="0"/>
              <a:t>1 in 5 people infected develop a fever and other symptoms</a:t>
            </a:r>
          </a:p>
          <a:p>
            <a:pPr marL="0" indent="0">
              <a:buNone/>
            </a:pPr>
            <a:r>
              <a:rPr lang="en-US" dirty="0"/>
              <a:t>1 in 150 infected people will develop a serious, possibly fatal illness</a:t>
            </a:r>
          </a:p>
          <a:p>
            <a:pPr marL="0" indent="0">
              <a:buNone/>
            </a:pPr>
            <a:r>
              <a:rPr lang="en-US" dirty="0"/>
              <a:t>Rarely transmitted from person to person</a:t>
            </a:r>
          </a:p>
          <a:p>
            <a:pPr marL="0" indent="0">
              <a:buNone/>
            </a:pPr>
            <a:r>
              <a:rPr lang="en-US" dirty="0"/>
              <a:t>2012 was marked by a national outbreak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7071EC-BCB9-494C-A9A6-CF6667C00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Mosquito on skin">
            <a:extLst>
              <a:ext uri="{FF2B5EF4-FFF2-40B4-BE49-F238E27FC236}">
                <a16:creationId xmlns:a16="http://schemas.microsoft.com/office/drawing/2014/main" id="{2EE9DAF4-81B1-8D77-CBEF-F3FE66C5A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94" r="9255"/>
          <a:stretch/>
        </p:blipFill>
        <p:spPr>
          <a:xfrm>
            <a:off x="6829197" y="1114197"/>
            <a:ext cx="4629606" cy="4629606"/>
          </a:xfrm>
          <a:custGeom>
            <a:avLst/>
            <a:gdLst/>
            <a:ahLst/>
            <a:cxnLst/>
            <a:rect l="l" t="t" r="r" b="b"/>
            <a:pathLst>
              <a:path w="4629606" h="4629606">
                <a:moveTo>
                  <a:pt x="2314803" y="0"/>
                </a:moveTo>
                <a:cubicBezTo>
                  <a:pt x="3593233" y="0"/>
                  <a:pt x="4629606" y="1036373"/>
                  <a:pt x="4629606" y="2314803"/>
                </a:cubicBezTo>
                <a:cubicBezTo>
                  <a:pt x="4629606" y="3593233"/>
                  <a:pt x="3593233" y="4629606"/>
                  <a:pt x="2314803" y="4629606"/>
                </a:cubicBezTo>
                <a:cubicBezTo>
                  <a:pt x="1036373" y="4629606"/>
                  <a:pt x="0" y="3593233"/>
                  <a:pt x="0" y="2314803"/>
                </a:cubicBezTo>
                <a:cubicBezTo>
                  <a:pt x="0" y="1036373"/>
                  <a:pt x="1036373" y="0"/>
                  <a:pt x="2314803" y="0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0382BD-B096-E14A-F09D-6042D9AAD465}"/>
              </a:ext>
            </a:extLst>
          </p:cNvPr>
          <p:cNvSpPr txBox="1"/>
          <p:nvPr/>
        </p:nvSpPr>
        <p:spPr>
          <a:xfrm>
            <a:off x="-62753" y="6642556"/>
            <a:ext cx="25549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www.cdc.gov/west-nile-virus/about/index.html</a:t>
            </a:r>
          </a:p>
        </p:txBody>
      </p:sp>
    </p:spTree>
    <p:extLst>
      <p:ext uri="{BB962C8B-B14F-4D97-AF65-F5344CB8AC3E}">
        <p14:creationId xmlns:p14="http://schemas.microsoft.com/office/powerpoint/2010/main" val="865409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A724DD-BA58-456A-9B27-F8781305D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E2BC33-F8B8-4768-AE46-E7CF6E3D7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651AAD3-6043-635A-7BA2-E3D886A632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65" b="-2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876F4-39CB-9414-D528-6E1BCBA85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159" y="1455089"/>
            <a:ext cx="4163684" cy="399068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The Data Set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0640195-6A93-4219-8096-9F2F4DC93F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11" b="-2"/>
          <a:stretch/>
        </p:blipFill>
        <p:spPr>
          <a:xfrm>
            <a:off x="6096000" y="2520"/>
            <a:ext cx="6096000" cy="68554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B3B6-7C9D-2C2E-54BB-7A6C49F50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2157" y="1073427"/>
            <a:ext cx="4048666" cy="46912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Roughly 1500 data points collected from 2006 to 2016</a:t>
            </a:r>
          </a:p>
          <a:p>
            <a:r>
              <a:rPr lang="en-US" dirty="0">
                <a:solidFill>
                  <a:srgbClr val="FFFFFF"/>
                </a:solidFill>
              </a:rPr>
              <a:t>Each year reported contained week reported, number of cases and what county the case was reported from</a:t>
            </a:r>
          </a:p>
          <a:p>
            <a:r>
              <a:rPr lang="en-US" dirty="0">
                <a:solidFill>
                  <a:srgbClr val="FFFFFF"/>
                </a:solidFill>
              </a:rPr>
              <a:t>Chose mainly to focus on the weekly distribution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31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8D38-4B30-69C1-06B1-8BF25F93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B8038-5B93-44E8-8EE8-105DBBEB0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2012 was the worst year for California in terms of number of positive cases of West Nile Virus.</a:t>
            </a:r>
          </a:p>
        </p:txBody>
      </p:sp>
    </p:spTree>
    <p:extLst>
      <p:ext uri="{BB962C8B-B14F-4D97-AF65-F5344CB8AC3E}">
        <p14:creationId xmlns:p14="http://schemas.microsoft.com/office/powerpoint/2010/main" val="1310620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D822-9E7E-324F-0F7F-CCC73A03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BF02-8E76-67D4-E9AD-ACBE7A6E8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Question: Was the national outbreak in 2012 the worst moment for California when dealing with West Nile Virus?</a:t>
            </a:r>
          </a:p>
          <a:p>
            <a:r>
              <a:rPr lang="en-US" dirty="0"/>
              <a:t>First ANOVA will tell us if there is significant variance between the years to proceed further with this question</a:t>
            </a:r>
          </a:p>
          <a:p>
            <a:r>
              <a:rPr lang="en-US" dirty="0"/>
              <a:t>If results from the ANOVA show that yes there is significant variance, t-tests can be used to find which years specifically were outside of the range and then we can compare them</a:t>
            </a:r>
          </a:p>
        </p:txBody>
      </p:sp>
    </p:spTree>
    <p:extLst>
      <p:ext uri="{BB962C8B-B14F-4D97-AF65-F5344CB8AC3E}">
        <p14:creationId xmlns:p14="http://schemas.microsoft.com/office/powerpoint/2010/main" val="174020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106620-225D-429A-AAE7-CD0545EF1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cases by county&#10;&#10;Description automatically generated">
            <a:extLst>
              <a:ext uri="{FF2B5EF4-FFF2-40B4-BE49-F238E27FC236}">
                <a16:creationId xmlns:a16="http://schemas.microsoft.com/office/drawing/2014/main" id="{A5F29B93-7E83-3390-2A80-C8B6EB15F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7" b="-11"/>
          <a:stretch/>
        </p:blipFill>
        <p:spPr>
          <a:xfrm>
            <a:off x="762000" y="762000"/>
            <a:ext cx="10668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4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5BE1F7E-8D81-425E-A546-F57DADBDB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with blue lines&#10;&#10;Description automatically generated">
            <a:extLst>
              <a:ext uri="{FF2B5EF4-FFF2-40B4-BE49-F238E27FC236}">
                <a16:creationId xmlns:a16="http://schemas.microsoft.com/office/drawing/2014/main" id="{EEFDE912-514E-7135-AC3D-DD23C1CA0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" y="762000"/>
            <a:ext cx="10668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4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showing the weather&#10;&#10;Description automatically generated with medium confidence">
            <a:extLst>
              <a:ext uri="{FF2B5EF4-FFF2-40B4-BE49-F238E27FC236}">
                <a16:creationId xmlns:a16="http://schemas.microsoft.com/office/drawing/2014/main" id="{F763AA64-D16B-2451-4572-794C20B8A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8" y="3713480"/>
            <a:ext cx="3096768" cy="1935480"/>
          </a:xfrm>
        </p:spPr>
      </p:pic>
      <p:pic>
        <p:nvPicPr>
          <p:cNvPr id="7" name="Picture 6" descr="A table with numbers and a few months&#10;&#10;Description automatically generated">
            <a:extLst>
              <a:ext uri="{FF2B5EF4-FFF2-40B4-BE49-F238E27FC236}">
                <a16:creationId xmlns:a16="http://schemas.microsoft.com/office/drawing/2014/main" id="{3786221C-58DE-7FE6-3F2F-8CEAA707A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8" y="727465"/>
            <a:ext cx="3096767" cy="2417056"/>
          </a:xfrm>
          <a:prstGeom prst="rect">
            <a:avLst/>
          </a:prstGeom>
        </p:spPr>
      </p:pic>
      <p:pic>
        <p:nvPicPr>
          <p:cNvPr id="9" name="Picture 8" descr="A graph with blue lines&#10;&#10;Description automatically generated">
            <a:extLst>
              <a:ext uri="{FF2B5EF4-FFF2-40B4-BE49-F238E27FC236}">
                <a16:creationId xmlns:a16="http://schemas.microsoft.com/office/drawing/2014/main" id="{5EC5D403-E8A8-BABA-1D4F-5AF27BD4E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124" y="1395133"/>
            <a:ext cx="8116072" cy="40677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3D5B6B-88F7-F044-6CA0-5768FB964530}"/>
              </a:ext>
            </a:extLst>
          </p:cNvPr>
          <p:cNvSpPr txBox="1"/>
          <p:nvPr/>
        </p:nvSpPr>
        <p:spPr>
          <a:xfrm>
            <a:off x="-81280" y="6627168"/>
            <a:ext cx="32359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www.cdph.ca.gov</a:t>
            </a:r>
          </a:p>
        </p:txBody>
      </p:sp>
    </p:spTree>
    <p:extLst>
      <p:ext uri="{BB962C8B-B14F-4D97-AF65-F5344CB8AC3E}">
        <p14:creationId xmlns:p14="http://schemas.microsoft.com/office/powerpoint/2010/main" val="602253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106620-225D-429A-AAE7-CD0545EF1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A039D09-4F2F-3122-1E05-A60786FCB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5" b="7388"/>
          <a:stretch/>
        </p:blipFill>
        <p:spPr>
          <a:xfrm>
            <a:off x="762000" y="762000"/>
            <a:ext cx="10668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35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5BE1F7E-8D81-425E-A546-F57DADBDB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774BD63-C16C-D5E2-D247-07A57913A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"/>
          <a:stretch/>
        </p:blipFill>
        <p:spPr>
          <a:xfrm>
            <a:off x="762000" y="762000"/>
            <a:ext cx="10668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68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FEFC581A-8017-D77C-ED9B-F4B4001F2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71" y="67235"/>
            <a:ext cx="11618259" cy="3422105"/>
          </a:xfr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2C91E5C-73FF-3147-9422-5846EAFF5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9" y="3573658"/>
            <a:ext cx="12103722" cy="307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74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E7DA-82EA-7339-9E8C-B40B0C51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61BB3-1547-6E1C-9179-B2E8A261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Years of Concern 2012, 2014, 2015</a:t>
            </a:r>
          </a:p>
          <a:p>
            <a:r>
              <a:rPr lang="en-US" dirty="0"/>
              <a:t>T-tests were run on all three by taking them out of the average and then comparing them via a paired t-test for two sample means</a:t>
            </a:r>
          </a:p>
        </p:txBody>
      </p:sp>
    </p:spTree>
    <p:extLst>
      <p:ext uri="{BB962C8B-B14F-4D97-AF65-F5344CB8AC3E}">
        <p14:creationId xmlns:p14="http://schemas.microsoft.com/office/powerpoint/2010/main" val="507356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5BE1F7E-8D81-425E-A546-F57DADBDB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document&#10;&#10;Description automatically generated">
            <a:extLst>
              <a:ext uri="{FF2B5EF4-FFF2-40B4-BE49-F238E27FC236}">
                <a16:creationId xmlns:a16="http://schemas.microsoft.com/office/drawing/2014/main" id="{A9F6B413-35B4-79CE-61A7-AA7AC73F8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0"/>
          <a:stretch/>
        </p:blipFill>
        <p:spPr>
          <a:xfrm>
            <a:off x="3048000" y="762000"/>
            <a:ext cx="6096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60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5BE1F7E-8D81-425E-A546-F57DADBDB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63BE75A-854A-B0AE-FF67-B9907330B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" y="762000"/>
            <a:ext cx="10668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96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0116-4EC0-6703-729D-A79219E24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DA55-C63D-587F-5F66-2A3817DDE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3 years of concern were outside of the average for California.</a:t>
            </a:r>
          </a:p>
          <a:p>
            <a:r>
              <a:rPr lang="en-US" dirty="0"/>
              <a:t>Interestingly, 2012 was not bad when compared to 2014 and 2015.</a:t>
            </a:r>
          </a:p>
          <a:p>
            <a:r>
              <a:rPr lang="en-US" dirty="0"/>
              <a:t>The spikes in the level of cases from 2014 – 2015 were drastic enough that 2012 got closer to the moving average for cases.</a:t>
            </a:r>
          </a:p>
          <a:p>
            <a:r>
              <a:rPr lang="en-US" dirty="0"/>
              <a:t>2015 was by far the worst year for positive cases</a:t>
            </a:r>
          </a:p>
          <a:p>
            <a:r>
              <a:rPr lang="en-US" dirty="0"/>
              <a:t>September is when the most positive cases for West Nile Virus occur at least in California from 2006 to 2016</a:t>
            </a:r>
          </a:p>
        </p:txBody>
      </p:sp>
    </p:spTree>
    <p:extLst>
      <p:ext uri="{BB962C8B-B14F-4D97-AF65-F5344CB8AC3E}">
        <p14:creationId xmlns:p14="http://schemas.microsoft.com/office/powerpoint/2010/main" val="2930783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0E05-5392-75B2-755F-AECEFA5D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906B8-A72B-B7C5-6ABF-659463162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following slides show data from the CDC reporting cases of WNV during 2012, 2014, 2015.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reports do highlight just how bad 2012 actually was nationally.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could suggest that California had a very good prevention campaign in 2012 since our data did not suggest 2012 was as bad as initially thought</a:t>
            </a:r>
          </a:p>
        </p:txBody>
      </p:sp>
    </p:spTree>
    <p:extLst>
      <p:ext uri="{BB962C8B-B14F-4D97-AF65-F5344CB8AC3E}">
        <p14:creationId xmlns:p14="http://schemas.microsoft.com/office/powerpoint/2010/main" val="539042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medical report&#10;&#10;Description automatically generated">
            <a:extLst>
              <a:ext uri="{FF2B5EF4-FFF2-40B4-BE49-F238E27FC236}">
                <a16:creationId xmlns:a16="http://schemas.microsoft.com/office/drawing/2014/main" id="{40D54FED-566B-D38E-2AD7-3BDB57D97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010" y="0"/>
            <a:ext cx="8147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37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263608C-E186-5CC5-8A29-6993B6CA4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82" y="0"/>
            <a:ext cx="82988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31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A1BE61CD-D3FB-191C-D28E-EFF06E29F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95" y="-1"/>
            <a:ext cx="8298811" cy="6854293"/>
          </a:xfrm>
        </p:spPr>
      </p:pic>
    </p:spTree>
    <p:extLst>
      <p:ext uri="{BB962C8B-B14F-4D97-AF65-F5344CB8AC3E}">
        <p14:creationId xmlns:p14="http://schemas.microsoft.com/office/powerpoint/2010/main" val="4074774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D65B0-FE2D-14E9-AD13-54585E54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ED0C4-F7FA-2E4D-28E5-8E88166F0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https://www.cdc.gov/west-nile-virus/data-maps/historic-data.html</a:t>
            </a:r>
            <a:endParaRPr lang="en-US" dirty="0"/>
          </a:p>
          <a:p>
            <a:r>
              <a:rPr lang="en-US" dirty="0">
                <a:hlinkClick r:id="rId3"/>
              </a:rPr>
              <a:t>https://data.world/healthdata/ca-west-nile-virus-cases</a:t>
            </a:r>
            <a:endParaRPr lang="en-US" dirty="0"/>
          </a:p>
          <a:p>
            <a:r>
              <a:rPr lang="en-US" dirty="0">
                <a:hlinkClick r:id="rId4"/>
              </a:rPr>
              <a:t>https://westnile.ca.gov/faq</a:t>
            </a:r>
            <a:endParaRPr lang="en-US" dirty="0"/>
          </a:p>
          <a:p>
            <a:r>
              <a:rPr lang="en-US" sz="1800" dirty="0">
                <a:hlinkClick r:id="rId5"/>
              </a:rPr>
              <a:t>www.cdph.ca.gov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74281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AnalogousFromRegularSeedRightStep">
      <a:dk1>
        <a:srgbClr val="000000"/>
      </a:dk1>
      <a:lt1>
        <a:srgbClr val="FFFFFF"/>
      </a:lt1>
      <a:dk2>
        <a:srgbClr val="1B2C30"/>
      </a:dk2>
      <a:lt2>
        <a:srgbClr val="F3F0F1"/>
      </a:lt2>
      <a:accent1>
        <a:srgbClr val="20B695"/>
      </a:accent1>
      <a:accent2>
        <a:srgbClr val="17B0D5"/>
      </a:accent2>
      <a:accent3>
        <a:srgbClr val="2973E7"/>
      </a:accent3>
      <a:accent4>
        <a:srgbClr val="423DDC"/>
      </a:accent4>
      <a:accent5>
        <a:srgbClr val="7E29E7"/>
      </a:accent5>
      <a:accent6>
        <a:srgbClr val="BB17D5"/>
      </a:accent6>
      <a:hlink>
        <a:srgbClr val="BF3F5B"/>
      </a:hlink>
      <a:folHlink>
        <a:srgbClr val="7F7F7F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433</Words>
  <Application>Microsoft Office PowerPoint</Application>
  <PresentationFormat>Widescreen</PresentationFormat>
  <Paragraphs>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Trade Gothic Next Cond</vt:lpstr>
      <vt:lpstr>Trade Gothic Next Light</vt:lpstr>
      <vt:lpstr>PortalVTI</vt:lpstr>
      <vt:lpstr>Analysis of Positive West Nile Virus Cases in California</vt:lpstr>
      <vt:lpstr>Background</vt:lpstr>
      <vt:lpstr>The Data Set</vt:lpstr>
      <vt:lpstr>hypothesis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Further Testing</vt:lpstr>
      <vt:lpstr>PowerPoint Presentation</vt:lpstr>
      <vt:lpstr>PowerPoint Presentation</vt:lpstr>
      <vt:lpstr>Results</vt:lpstr>
      <vt:lpstr>Comparison to nation</vt:lpstr>
      <vt:lpstr>PowerPoint Presentation</vt:lpstr>
      <vt:lpstr>PowerPoint Presentation</vt:lpstr>
      <vt:lpstr>PowerPoint Presentation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Gutierrez</dc:creator>
  <cp:lastModifiedBy>Sebastian Gutierrez</cp:lastModifiedBy>
  <cp:revision>4</cp:revision>
  <dcterms:created xsi:type="dcterms:W3CDTF">2024-11-20T12:30:01Z</dcterms:created>
  <dcterms:modified xsi:type="dcterms:W3CDTF">2024-11-20T14:35:08Z</dcterms:modified>
</cp:coreProperties>
</file>